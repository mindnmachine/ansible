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  <p:sldMasterId id="2147483684" r:id="rId3"/>
    <p:sldMasterId id="2147483696" r:id="rId4"/>
  </p:sldMasterIdLst>
  <p:sldIdLst>
    <p:sldId id="276" r:id="rId5"/>
    <p:sldId id="277" r:id="rId6"/>
    <p:sldId id="278" r:id="rId7"/>
    <p:sldId id="279" r:id="rId8"/>
    <p:sldId id="257" r:id="rId9"/>
    <p:sldId id="259" r:id="rId10"/>
    <p:sldId id="258" r:id="rId11"/>
    <p:sldId id="260" r:id="rId12"/>
    <p:sldId id="261" r:id="rId13"/>
    <p:sldId id="262" r:id="rId14"/>
    <p:sldId id="264" r:id="rId15"/>
    <p:sldId id="263" r:id="rId16"/>
    <p:sldId id="271" r:id="rId17"/>
    <p:sldId id="272" r:id="rId18"/>
    <p:sldId id="273" r:id="rId19"/>
    <p:sldId id="274" r:id="rId20"/>
    <p:sldId id="275" r:id="rId21"/>
    <p:sldId id="26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61D971E-F1FD-4F52-A34E-47406ED5FE3A}">
          <p14:sldIdLst>
            <p14:sldId id="276"/>
            <p14:sldId id="277"/>
            <p14:sldId id="278"/>
            <p14:sldId id="279"/>
            <p14:sldId id="257"/>
            <p14:sldId id="259"/>
            <p14:sldId id="258"/>
            <p14:sldId id="260"/>
            <p14:sldId id="261"/>
            <p14:sldId id="262"/>
            <p14:sldId id="264"/>
            <p14:sldId id="263"/>
            <p14:sldId id="271"/>
            <p14:sldId id="272"/>
            <p14:sldId id="273"/>
            <p14:sldId id="274"/>
            <p14:sldId id="275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19A6-1AD0-6C45-9B23-CCE0986DA1DA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0374-A2EC-B245-84D0-2DC6DF66F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18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19A6-1AD0-6C45-9B23-CCE0986DA1DA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0374-A2EC-B245-84D0-2DC6DF66F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50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75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19A6-1AD0-6C45-9B23-CCE0986DA1DA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0374-A2EC-B245-84D0-2DC6DF66F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00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19A6-1AD0-6C45-9B23-CCE0986DA1DA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0374-A2EC-B245-84D0-2DC6DF66F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02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19A6-1AD0-6C45-9B23-CCE0986DA1DA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0374-A2EC-B245-84D0-2DC6DF66F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2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19A6-1AD0-6C45-9B23-CCE0986DA1DA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0374-A2EC-B245-84D0-2DC6DF66F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28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19A6-1AD0-6C45-9B23-CCE0986DA1DA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0374-A2EC-B245-84D0-2DC6DF66F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91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19A6-1AD0-6C45-9B23-CCE0986DA1DA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0374-A2EC-B245-84D0-2DC6DF66F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68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19A6-1AD0-6C45-9B23-CCE0986DA1DA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0374-A2EC-B245-84D0-2DC6DF66F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65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19A6-1AD0-6C45-9B23-CCE0986DA1DA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0374-A2EC-B245-84D0-2DC6DF66F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09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BBED5C-281E-D04B-A242-DC7B480DDB43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5A0CD-5DB2-A448-9B00-A28E358BA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75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1935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BBED5C-281E-D04B-A242-DC7B480DDB43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924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BBED5C-281E-D04B-A242-DC7B480DDB43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5A0CD-5DB2-A448-9B00-A28E358BA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55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BBED5C-281E-D04B-A242-DC7B480DDB43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5A0CD-5DB2-A448-9B00-A28E358BA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78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BBED5C-281E-D04B-A242-DC7B480DDB43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5A0CD-5DB2-A448-9B00-A28E358BA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40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BBED5C-281E-D04B-A242-DC7B480DDB43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5A0CD-5DB2-A448-9B00-A28E358BA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796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BBED5C-281E-D04B-A242-DC7B480DDB43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5A0CD-5DB2-A448-9B00-A28E358BA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29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BBED5C-281E-D04B-A242-DC7B480DDB43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5A0CD-5DB2-A448-9B00-A28E358BA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007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BBED5C-281E-D04B-A242-DC7B480DDB43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5A0CD-5DB2-A448-9B00-A28E358BA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731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BBED5C-281E-D04B-A242-DC7B480DDB43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5A0CD-5DB2-A448-9B00-A28E358BA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032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BBED5C-281E-D04B-A242-DC7B480DDB43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5A0CD-5DB2-A448-9B00-A28E358BA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39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6C3B16F7-518A-4C11-804A-5E47CEC998E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6/27/2018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8EC882B-02F8-46DE-BE2B-E80A352F5B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7528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6C3B16F7-518A-4C11-804A-5E47CEC998E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6/27/2018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8EC882B-02F8-46DE-BE2B-E80A352F5B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6965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0069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6C3B16F7-518A-4C11-804A-5E47CEC998E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6/27/2018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8EC882B-02F8-46DE-BE2B-E80A352F5B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2846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6C3B16F7-518A-4C11-804A-5E47CEC998E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6/27/2018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8EC882B-02F8-46DE-BE2B-E80A352F5B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7855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6C3B16F7-518A-4C11-804A-5E47CEC998E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6/27/2018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8EC882B-02F8-46DE-BE2B-E80A352F5B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116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6C3B16F7-518A-4C11-804A-5E47CEC998E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6/27/2018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8EC882B-02F8-46DE-BE2B-E80A352F5B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5187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6C3B16F7-518A-4C11-804A-5E47CEC998E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6/27/2018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8EC882B-02F8-46DE-BE2B-E80A352F5B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2589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6C3B16F7-518A-4C11-804A-5E47CEC998E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6/27/2018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8EC882B-02F8-46DE-BE2B-E80A352F5B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5009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6C3B16F7-518A-4C11-804A-5E47CEC998E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6/27/2018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8EC882B-02F8-46DE-BE2B-E80A352F5B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0822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6C3B16F7-518A-4C11-804A-5E47CEC998E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6/27/2018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8EC882B-02F8-46DE-BE2B-E80A352F5B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302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EABBED5C-281E-D04B-A242-DC7B480DDB43}" type="datetimeFigureOut">
              <a:rPr lang="en-US" sz="1350" smtClean="0">
                <a:solidFill>
                  <a:prstClr val="black"/>
                </a:solidFill>
              </a:rPr>
              <a:pPr defTabSz="685800"/>
              <a:t>6/27/2018</a:t>
            </a:fld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97E5A0CD-5DB2-A448-9B00-A28E358BABC7}" type="slidenum">
              <a:rPr 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2535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1935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EABBED5C-281E-D04B-A242-DC7B480DDB43}" type="datetimeFigureOut">
              <a:rPr lang="en-US" sz="1350" smtClean="0">
                <a:solidFill>
                  <a:prstClr val="black"/>
                </a:solidFill>
              </a:rPr>
              <a:pPr defTabSz="685800"/>
              <a:t>6/27/2018</a:t>
            </a:fld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 defTabSz="685800"/>
            <a:endParaRPr lang="en-US" sz="135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2470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EABBED5C-281E-D04B-A242-DC7B480DDB43}" type="datetimeFigureOut">
              <a:rPr lang="en-US" sz="1350" smtClean="0">
                <a:solidFill>
                  <a:prstClr val="black"/>
                </a:solidFill>
              </a:rPr>
              <a:pPr defTabSz="685800"/>
              <a:t>6/27/2018</a:t>
            </a:fld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97E5A0CD-5DB2-A448-9B00-A28E358BABC7}" type="slidenum">
              <a:rPr 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726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EABBED5C-281E-D04B-A242-DC7B480DDB43}" type="datetimeFigureOut">
              <a:rPr lang="en-US" sz="1350" smtClean="0">
                <a:solidFill>
                  <a:prstClr val="black"/>
                </a:solidFill>
              </a:rPr>
              <a:pPr defTabSz="685800"/>
              <a:t>6/27/2018</a:t>
            </a:fld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97E5A0CD-5DB2-A448-9B00-A28E358BABC7}" type="slidenum">
              <a:rPr 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4753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EABBED5C-281E-D04B-A242-DC7B480DDB43}" type="datetimeFigureOut">
              <a:rPr lang="en-US" sz="1350" smtClean="0">
                <a:solidFill>
                  <a:prstClr val="black"/>
                </a:solidFill>
              </a:rPr>
              <a:pPr defTabSz="685800"/>
              <a:t>6/27/2018</a:t>
            </a:fld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97E5A0CD-5DB2-A448-9B00-A28E358BABC7}" type="slidenum">
              <a:rPr 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5528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EABBED5C-281E-D04B-A242-DC7B480DDB43}" type="datetimeFigureOut">
              <a:rPr lang="en-US" sz="1350" smtClean="0">
                <a:solidFill>
                  <a:prstClr val="black"/>
                </a:solidFill>
              </a:rPr>
              <a:pPr defTabSz="685800"/>
              <a:t>6/27/2018</a:t>
            </a:fld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97E5A0CD-5DB2-A448-9B00-A28E358BABC7}" type="slidenum">
              <a:rPr 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4867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EABBED5C-281E-D04B-A242-DC7B480DDB43}" type="datetimeFigureOut">
              <a:rPr lang="en-US" sz="1350" smtClean="0">
                <a:solidFill>
                  <a:prstClr val="black"/>
                </a:solidFill>
              </a:rPr>
              <a:pPr defTabSz="685800"/>
              <a:t>6/27/2018</a:t>
            </a:fld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97E5A0CD-5DB2-A448-9B00-A28E358BABC7}" type="slidenum">
              <a:rPr 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5339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EABBED5C-281E-D04B-A242-DC7B480DDB43}" type="datetimeFigureOut">
              <a:rPr lang="en-US" sz="1350" smtClean="0">
                <a:solidFill>
                  <a:prstClr val="black"/>
                </a:solidFill>
              </a:rPr>
              <a:pPr defTabSz="685800"/>
              <a:t>6/27/2018</a:t>
            </a:fld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97E5A0CD-5DB2-A448-9B00-A28E358BABC7}" type="slidenum">
              <a:rPr 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6484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EABBED5C-281E-D04B-A242-DC7B480DDB43}" type="datetimeFigureOut">
              <a:rPr lang="en-US" sz="1350" smtClean="0">
                <a:solidFill>
                  <a:prstClr val="black"/>
                </a:solidFill>
              </a:rPr>
              <a:pPr defTabSz="685800"/>
              <a:t>6/27/2018</a:t>
            </a:fld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97E5A0CD-5DB2-A448-9B00-A28E358BABC7}" type="slidenum">
              <a:rPr 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3947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EABBED5C-281E-D04B-A242-DC7B480DDB43}" type="datetimeFigureOut">
              <a:rPr lang="en-US" sz="1350" smtClean="0">
                <a:solidFill>
                  <a:prstClr val="black"/>
                </a:solidFill>
              </a:rPr>
              <a:pPr defTabSz="685800"/>
              <a:t>6/27/2018</a:t>
            </a:fld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97E5A0CD-5DB2-A448-9B00-A28E358BABC7}" type="slidenum">
              <a:rPr 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3774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EABBED5C-281E-D04B-A242-DC7B480DDB43}" type="datetimeFigureOut">
              <a:rPr lang="en-US" sz="1350" smtClean="0">
                <a:solidFill>
                  <a:prstClr val="black"/>
                </a:solidFill>
              </a:rPr>
              <a:pPr defTabSz="685800"/>
              <a:t>6/27/2018</a:t>
            </a:fld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685800"/>
            <a:fld id="{97E5A0CD-5DB2-A448-9B00-A28E358BABC7}" type="slidenum">
              <a:rPr 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411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619A6-1AD0-6C45-9B23-CCE0986DA1DA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B0374-A2EC-B245-84D0-2DC6DF66F66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BrandBar_New_flag_only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265" y="5666007"/>
            <a:ext cx="9960737" cy="155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1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owerpoint_template_interior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7712"/>
            <a:ext cx="9144000" cy="7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11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6C3B16F7-518A-4C11-804A-5E47CEC998E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6/27/2018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C8EC882B-02F8-46DE-BE2B-E80A352F5B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8" descr="BrandBar_New_flag_only.pn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265" y="5666009"/>
            <a:ext cx="9960737" cy="155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233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owerpoint_template_interior.pn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7712"/>
            <a:ext cx="9144000" cy="7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781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nextgenscience.org/sites/default/files/AllTopic.pdf" TargetMode="External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203" y="968747"/>
            <a:ext cx="1908921" cy="15271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989452"/>
            <a:ext cx="7772400" cy="1216144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0070C0"/>
                </a:solidFill>
              </a:rPr>
              <a:t>Animation: Simple Harmonic Motion (SHM)</a:t>
            </a:r>
            <a:r>
              <a:rPr lang="en-US" sz="4050" b="1" dirty="0">
                <a:solidFill>
                  <a:srgbClr val="0070C0"/>
                </a:solidFill>
              </a:rPr>
              <a:t/>
            </a:r>
            <a:br>
              <a:rPr lang="en-US" sz="4050" b="1" dirty="0">
                <a:solidFill>
                  <a:srgbClr val="0070C0"/>
                </a:solidFill>
              </a:rPr>
            </a:b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46886" y="5717112"/>
            <a:ext cx="53573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050" b="1" dirty="0">
                <a:solidFill>
                  <a:prstClr val="white"/>
                </a:solidFill>
                <a:latin typeface="Calibri"/>
              </a:rPr>
              <a:t>ELECTRICAL AND COMPUTER ENGINEERING, COLLEGE OF ENGINEERING AND APPLIED SCIENCE</a:t>
            </a:r>
          </a:p>
        </p:txBody>
      </p:sp>
    </p:spTree>
    <p:extLst>
      <p:ext uri="{BB962C8B-B14F-4D97-AF65-F5344CB8AC3E}">
        <p14:creationId xmlns:p14="http://schemas.microsoft.com/office/powerpoint/2010/main" val="83243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945" y="239222"/>
            <a:ext cx="8229600" cy="857250"/>
          </a:xfrm>
        </p:spPr>
        <p:txBody>
          <a:bodyPr/>
          <a:lstStyle/>
          <a:p>
            <a:r>
              <a:rPr lang="en-US" sz="4000" dirty="0" smtClean="0">
                <a:solidFill>
                  <a:srgbClr val="FF0000"/>
                </a:solidFill>
              </a:rPr>
              <a:t>Goals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2783"/>
            <a:ext cx="8229600" cy="336559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70C0"/>
                </a:solidFill>
              </a:rPr>
              <a:t>Illustrate Simple Harmonic Motion by changing the variables involved in the equation: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70C0"/>
                </a:solidFill>
              </a:rPr>
              <a:t>Amplitude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70C0"/>
                </a:solidFill>
              </a:rPr>
              <a:t>Frequency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70C0"/>
                </a:solidFill>
              </a:rPr>
              <a:t>Initial P</a:t>
            </a:r>
            <a:r>
              <a:rPr lang="en-US" sz="2600" dirty="0" smtClean="0">
                <a:solidFill>
                  <a:srgbClr val="0070C0"/>
                </a:solidFill>
              </a:rPr>
              <a:t>hase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 smtClean="0">
                <a:solidFill>
                  <a:srgbClr val="0070C0"/>
                </a:solidFill>
              </a:rPr>
              <a:t>Damping Constant</a:t>
            </a:r>
            <a:endParaRPr lang="en-US" sz="2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41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655" y="91681"/>
            <a:ext cx="8229600" cy="857250"/>
          </a:xfrm>
        </p:spPr>
        <p:txBody>
          <a:bodyPr/>
          <a:lstStyle/>
          <a:p>
            <a:r>
              <a:rPr lang="en-US" sz="4000" dirty="0" smtClean="0">
                <a:solidFill>
                  <a:srgbClr val="FF0000"/>
                </a:solidFill>
              </a:rPr>
              <a:t>Applicable Education Standards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05176" y="3693726"/>
            <a:ext cx="465475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en-US" sz="1350" dirty="0">
                <a:solidFill>
                  <a:prstClr val="black"/>
                </a:solidFill>
                <a:latin typeface="Calibri"/>
              </a:rPr>
              <a:t>See page 72 of Next Generation Science Standards:</a:t>
            </a:r>
          </a:p>
          <a:p>
            <a:pPr defTabSz="685800"/>
            <a:r>
              <a:rPr lang="en-US" sz="1350" dirty="0">
                <a:solidFill>
                  <a:prstClr val="black"/>
                </a:solidFill>
                <a:latin typeface="Calibri"/>
                <a:hlinkClick r:id="rId2"/>
              </a:rPr>
              <a:t>https://www.nextgenscience.org/sites/default/files/AllTopic.pdf</a:t>
            </a: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8" y="917810"/>
            <a:ext cx="8852159" cy="447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14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5168"/>
            <a:ext cx="8229600" cy="857250"/>
          </a:xfrm>
        </p:spPr>
        <p:txBody>
          <a:bodyPr/>
          <a:lstStyle/>
          <a:p>
            <a:r>
              <a:rPr lang="en-US" sz="4000" dirty="0" smtClean="0">
                <a:solidFill>
                  <a:srgbClr val="FF0000"/>
                </a:solidFill>
              </a:rPr>
              <a:t>Abstract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348"/>
            <a:ext cx="8229600" cy="33753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70C0"/>
                </a:solidFill>
              </a:rPr>
              <a:t>This Module uses the concept of Simple Harmonic Motion to create the graph of a wave. The user can make changes to the amplitude, frequency</a:t>
            </a:r>
            <a:r>
              <a:rPr lang="en-US" sz="3000" dirty="0" smtClean="0">
                <a:solidFill>
                  <a:srgbClr val="0070C0"/>
                </a:solidFill>
              </a:rPr>
              <a:t>, </a:t>
            </a:r>
            <a:r>
              <a:rPr lang="en-US" sz="3000" dirty="0">
                <a:solidFill>
                  <a:srgbClr val="0070C0"/>
                </a:solidFill>
              </a:rPr>
              <a:t>and initial phase of the wave to see the changes these cause. </a:t>
            </a:r>
            <a:r>
              <a:rPr lang="en-US" sz="3000" dirty="0" smtClean="0">
                <a:solidFill>
                  <a:srgbClr val="0070C0"/>
                </a:solidFill>
              </a:rPr>
              <a:t>There is also an option to add a decay or damping constant</a:t>
            </a:r>
            <a:endParaRPr lang="en-US" sz="30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3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59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6240"/>
          </a:xfrm>
        </p:spPr>
        <p:txBody>
          <a:bodyPr/>
          <a:lstStyle/>
          <a:p>
            <a:r>
              <a:rPr lang="en-US" sz="4200" dirty="0" smtClean="0"/>
              <a:t>What is SHM?</a:t>
            </a:r>
            <a:endParaRPr lang="en-US" sz="42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173707"/>
            <a:ext cx="8229600" cy="2985544"/>
          </a:xfrm>
        </p:spPr>
        <p:txBody>
          <a:bodyPr/>
          <a:lstStyle/>
          <a:p>
            <a:r>
              <a:rPr lang="en-US" sz="2200" dirty="0" smtClean="0"/>
              <a:t>Repetitive movement back and forth through an equilibrium position, so that the maximum displacement on one side (</a:t>
            </a:r>
            <a:r>
              <a:rPr lang="en-US" sz="2200" b="1" dirty="0" smtClean="0"/>
              <a:t>amplitude</a:t>
            </a:r>
            <a:r>
              <a:rPr lang="en-US" sz="2200" dirty="0" smtClean="0"/>
              <a:t>) is equal to the maximum displacement position on the other side. </a:t>
            </a:r>
          </a:p>
          <a:p>
            <a:r>
              <a:rPr lang="en-US" sz="2200" dirty="0" smtClean="0"/>
              <a:t>The time interval of each complete vibration (</a:t>
            </a:r>
            <a:r>
              <a:rPr lang="en-US" sz="2200" b="1" dirty="0" smtClean="0"/>
              <a:t>time period</a:t>
            </a:r>
            <a:r>
              <a:rPr lang="en-US" sz="2200" dirty="0" smtClean="0"/>
              <a:t>) is the same and the force responsible for the motion is always directed toward the equilibrium position and is directly proportional to the distance from it. </a:t>
            </a:r>
            <a:endParaRPr lang="en-US" sz="2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71" y="4159251"/>
            <a:ext cx="2519504" cy="18702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842" y="3733285"/>
            <a:ext cx="3061648" cy="229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33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Converting Science to Code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82084" cy="4193547"/>
          </a:xfrm>
        </p:spPr>
        <p:txBody>
          <a:bodyPr/>
          <a:lstStyle/>
          <a:p>
            <a:r>
              <a:rPr lang="en-US" sz="2200" dirty="0" smtClean="0"/>
              <a:t>Required libraries (in Python3):</a:t>
            </a:r>
          </a:p>
          <a:p>
            <a:pPr lvl="1"/>
            <a:r>
              <a:rPr lang="en-US" sz="2200" dirty="0" err="1" smtClean="0"/>
              <a:t>numpy</a:t>
            </a:r>
            <a:r>
              <a:rPr lang="en-US" sz="2200" dirty="0" smtClean="0"/>
              <a:t> (should already be installed)</a:t>
            </a:r>
            <a:endParaRPr lang="en-US" sz="1800" dirty="0" smtClean="0"/>
          </a:p>
          <a:p>
            <a:pPr lvl="1"/>
            <a:r>
              <a:rPr lang="en-US" sz="2200" dirty="0" err="1"/>
              <a:t>m</a:t>
            </a:r>
            <a:r>
              <a:rPr lang="en-US" sz="2200" dirty="0" err="1" smtClean="0"/>
              <a:t>atplotlib</a:t>
            </a:r>
            <a:r>
              <a:rPr lang="en-US" sz="2200" dirty="0" smtClean="0"/>
              <a:t> </a:t>
            </a:r>
            <a:br>
              <a:rPr lang="en-US" sz="2200" dirty="0" smtClean="0"/>
            </a:br>
            <a:r>
              <a:rPr lang="en-US" sz="2200" dirty="0" smtClean="0"/>
              <a:t>(if not installed, type into a terminal:</a:t>
            </a:r>
            <a:br>
              <a:rPr lang="en-US" sz="2200" dirty="0" smtClean="0"/>
            </a:br>
            <a:r>
              <a:rPr lang="en-US" sz="2200" dirty="0" err="1" smtClean="0">
                <a:latin typeface="Lucida Console" panose="020B0609040504020204" pitchFamily="49" charset="0"/>
              </a:rPr>
              <a:t>sudo</a:t>
            </a:r>
            <a:r>
              <a:rPr lang="en-US" sz="2200" dirty="0" smtClean="0">
                <a:latin typeface="Lucida Console" panose="020B0609040504020204" pitchFamily="49" charset="0"/>
              </a:rPr>
              <a:t> apt-get install python3-matplotlib</a:t>
            </a:r>
            <a:r>
              <a:rPr lang="en-US" sz="2200" dirty="0" smtClean="0"/>
              <a:t>)</a:t>
            </a:r>
          </a:p>
          <a:p>
            <a:r>
              <a:rPr lang="en-US" sz="2200" dirty="0" smtClean="0"/>
              <a:t>Forming a math model i.e. modeling the behavior through an equation </a:t>
            </a:r>
            <a:br>
              <a:rPr lang="en-US" sz="2200" dirty="0" smtClean="0"/>
            </a:br>
            <a:r>
              <a:rPr lang="en-US" sz="2200" i="1" dirty="0" smtClean="0"/>
              <a:t>(In many cases an equation already exists and it is a simple case of coding this in)</a:t>
            </a:r>
          </a:p>
          <a:p>
            <a:r>
              <a:rPr lang="en-US" sz="2200" dirty="0" smtClean="0"/>
              <a:t>Identifying the independent and dependent variables in the equation i.e. what do you have to find vs what can you set from the start</a:t>
            </a:r>
          </a:p>
          <a:p>
            <a:endParaRPr lang="en-US" sz="2200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7776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Math Model of SHM</a:t>
            </a:r>
            <a:endParaRPr lang="en-US" sz="4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200" dirty="0" smtClean="0"/>
                  <a:t>Simple Harmonic Motion can be modeled as a sine (or cosine) wave moving forward in time t. </a:t>
                </a:r>
              </a:p>
              <a:p>
                <a:r>
                  <a:rPr lang="en-US" sz="2200" dirty="0" smtClean="0"/>
                  <a:t>In other words, for plotting a SHM wave, we have time t on the X axis and the corresponding position on the Y axis.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0" smtClean="0">
                          <a:latin typeface="Cambria Math" panose="02040503050406030204" pitchFamily="18" charset="0"/>
                        </a:rPr>
                        <m:t>𝐬𝐢𝐧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b="1" dirty="0" smtClean="0"/>
              </a:p>
              <a:p>
                <a:pPr marL="0" indent="0">
                  <a:buNone/>
                </a:pPr>
                <a:r>
                  <a:rPr lang="en-US" sz="2200" dirty="0"/>
                  <a:t>w</a:t>
                </a:r>
                <a:r>
                  <a:rPr lang="en-US" sz="2200" dirty="0" smtClean="0"/>
                  <a:t>here, </a:t>
                </a:r>
              </a:p>
              <a:p>
                <a:pPr marL="0" indent="0">
                  <a:buNone/>
                </a:pPr>
                <a:r>
                  <a:rPr lang="en-US" sz="2200" dirty="0" smtClean="0"/>
                  <a:t>A is the amplitude</a:t>
                </a:r>
              </a:p>
              <a:p>
                <a:pPr marL="0" indent="0">
                  <a:buNone/>
                </a:pPr>
                <a:r>
                  <a:rPr lang="el-GR" sz="2200" dirty="0" smtClean="0"/>
                  <a:t>ω</a:t>
                </a:r>
                <a:r>
                  <a:rPr lang="en-US" sz="2200" dirty="0" smtClean="0"/>
                  <a:t> is the angular frequency = (2</a:t>
                </a:r>
                <a:r>
                  <a:rPr lang="el-GR" sz="2200" dirty="0" smtClean="0"/>
                  <a:t>π</a:t>
                </a:r>
                <a:r>
                  <a:rPr lang="en-US" sz="2200" dirty="0" smtClean="0"/>
                  <a:t>f, f is frequency in Hz)</a:t>
                </a:r>
              </a:p>
              <a:p>
                <a:pPr marL="0" indent="0">
                  <a:buNone/>
                </a:pPr>
                <a:r>
                  <a:rPr lang="en-US" sz="2200" dirty="0" smtClean="0"/>
                  <a:t>ϴ is the initial phase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19" r="-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758" y="5150809"/>
            <a:ext cx="4279555" cy="160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89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Time marching (Discretization)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Marching means the evolution of the main dependent property with respect to the independent dimension i.e. space and time </a:t>
            </a:r>
          </a:p>
          <a:p>
            <a:r>
              <a:rPr lang="en-US" sz="2200" dirty="0" smtClean="0"/>
              <a:t>This is done by iterating or moving along in the time dimension (for example) in a sequential manner from 0 s till a specified stop time in intervals of 0.5 s (or any arbitrary value, called steps) </a:t>
            </a:r>
          </a:p>
          <a:p>
            <a:pPr lvl="1"/>
            <a:r>
              <a:rPr lang="en-US" sz="2000" dirty="0" smtClean="0"/>
              <a:t>For example if we want see what happens for the first 5 s of motion in steps of 0.1 s, we will have 50 steps in total</a:t>
            </a:r>
          </a:p>
          <a:p>
            <a:r>
              <a:rPr lang="en-US" sz="2200" dirty="0" smtClean="0"/>
              <a:t>Examples of time marching include,</a:t>
            </a:r>
          </a:p>
          <a:p>
            <a:pPr lvl="1"/>
            <a:r>
              <a:rPr lang="en-US" sz="2200" dirty="0" smtClean="0"/>
              <a:t>SHM: </a:t>
            </a:r>
          </a:p>
          <a:p>
            <a:pPr lvl="2"/>
            <a:r>
              <a:rPr lang="en-US" sz="2000" dirty="0" smtClean="0"/>
              <a:t>independent dimension is time </a:t>
            </a:r>
            <a:endParaRPr lang="en-US" sz="2000" dirty="0"/>
          </a:p>
          <a:p>
            <a:pPr lvl="2"/>
            <a:r>
              <a:rPr lang="en-US" sz="2000" dirty="0" smtClean="0"/>
              <a:t>dependent property is displacement (Y axis)</a:t>
            </a:r>
          </a:p>
        </p:txBody>
      </p:sp>
    </p:spTree>
    <p:extLst>
      <p:ext uri="{BB962C8B-B14F-4D97-AF65-F5344CB8AC3E}">
        <p14:creationId xmlns:p14="http://schemas.microsoft.com/office/powerpoint/2010/main" val="1122362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Algorithm/Process</a:t>
            </a:r>
            <a:endParaRPr lang="en-US" sz="4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7546" y="1600200"/>
                <a:ext cx="8584442" cy="4193547"/>
              </a:xfrm>
            </p:spPr>
            <p:txBody>
              <a:bodyPr/>
              <a:lstStyle/>
              <a:p>
                <a:r>
                  <a:rPr lang="en-US" sz="2200" dirty="0" smtClean="0"/>
                  <a:t>Set the size of each step and number of total steps</a:t>
                </a:r>
              </a:p>
              <a:p>
                <a:pPr lvl="1"/>
                <a:r>
                  <a:rPr lang="en-US" sz="2200" dirty="0" smtClean="0"/>
                  <a:t>For example, </a:t>
                </a:r>
                <a:r>
                  <a:rPr lang="en-US" sz="2200" i="1" dirty="0" smtClean="0"/>
                  <a:t>step = 0.5 </a:t>
                </a:r>
                <a:r>
                  <a:rPr lang="en-US" sz="2200" dirty="0" smtClean="0"/>
                  <a:t>s and </a:t>
                </a:r>
                <a:r>
                  <a:rPr lang="en-US" sz="2200" i="1" dirty="0" err="1" smtClean="0"/>
                  <a:t>numstep</a:t>
                </a:r>
                <a:r>
                  <a:rPr lang="en-US" sz="2200" i="1" dirty="0" smtClean="0"/>
                  <a:t> = 1000</a:t>
                </a:r>
              </a:p>
              <a:p>
                <a:r>
                  <a:rPr lang="en-US" sz="2200" dirty="0" smtClean="0"/>
                  <a:t>Define a function (</a:t>
                </a:r>
                <a:r>
                  <a:rPr lang="en-US" sz="2200" i="1" dirty="0" err="1" smtClean="0"/>
                  <a:t>data_gen</a:t>
                </a:r>
                <a:r>
                  <a:rPr lang="en-US" sz="2200" dirty="0" smtClean="0"/>
                  <a:t>) that will compute the value of the wave at each point in time t from 0 s in steps of 0.5 s for a 1000 times</a:t>
                </a:r>
              </a:p>
              <a:p>
                <a:pPr lvl="1"/>
                <a:r>
                  <a:rPr lang="en-US" sz="2200" dirty="0" smtClean="0"/>
                  <a:t>For a SHM wave, at time 2.5 seconds the y position is </a:t>
                </a:r>
                <a:r>
                  <a:rPr lang="en-US" sz="2400" b="1" i="0" dirty="0" smtClean="0">
                    <a:latin typeface="Cambria Math" panose="02040503050406030204" pitchFamily="18" charset="0"/>
                  </a:rPr>
                  <a:t/>
                </a:r>
                <a:br>
                  <a:rPr lang="en-US" sz="2400" b="1" i="0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200" b="1" i="0" smtClean="0">
                        <a:latin typeface="Cambria Math" panose="02040503050406030204" pitchFamily="18" charset="0"/>
                      </a:rPr>
                      <m:t>𝐀𝐬𝐢𝐧</m:t>
                    </m:r>
                    <m:d>
                      <m:d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𝛑</m:t>
                        </m:r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𝐟</m:t>
                        </m:r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</m:e>
                    </m:d>
                    <m:r>
                      <a:rPr lang="en-US" sz="2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 smtClean="0"/>
                  <a:t>where f </a:t>
                </a:r>
                <a:r>
                  <a:rPr lang="en-US" sz="2200" dirty="0"/>
                  <a:t>is the frequency in </a:t>
                </a:r>
                <a:r>
                  <a:rPr lang="en-US" sz="2200" dirty="0" smtClean="0"/>
                  <a:t>Hz</a:t>
                </a:r>
              </a:p>
              <a:p>
                <a:pPr lvl="1"/>
                <a:r>
                  <a:rPr lang="en-US" sz="2200" dirty="0" smtClean="0"/>
                  <a:t>For a damped wave, at time 1.0 second the y position is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0" i="0" dirty="0" smtClean="0">
                    <a:latin typeface="Cambria Math" panose="02040503050406030204" pitchFamily="18" charset="0"/>
                  </a:rPr>
                  <a:t/>
                </a:r>
                <a:br>
                  <a:rPr lang="en-US" sz="2000" b="0" i="0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200" b="1" i="0" smtClean="0">
                        <a:latin typeface="Cambria Math" panose="02040503050406030204" pitchFamily="18" charset="0"/>
                      </a:rPr>
                      <m:t>𝐀𝐬𝐢𝐧</m:t>
                    </m:r>
                    <m:r>
                      <a:rPr lang="en-US" sz="2200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1" i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𝛑</m:t>
                    </m:r>
                    <m:r>
                      <a:rPr lang="en-US" sz="2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𝐟</m:t>
                    </m:r>
                    <m:r>
                      <a:rPr lang="en-US" sz="2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2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2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𝐞</m:t>
                        </m:r>
                      </m:e>
                      <m:sup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𝛌</m:t>
                        </m:r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𝐭</m:t>
                        </m:r>
                      </m:sup>
                    </m:sSup>
                  </m:oMath>
                </a14:m>
                <a:r>
                  <a:rPr lang="en-US" sz="2200" dirty="0" smtClean="0"/>
                  <a:t>, where </a:t>
                </a:r>
                <a:r>
                  <a:rPr lang="el-GR" sz="2200" dirty="0" smtClean="0"/>
                  <a:t>λ</a:t>
                </a:r>
                <a:r>
                  <a:rPr lang="en-US" sz="2200" dirty="0" smtClean="0"/>
                  <a:t> is the decay constant</a:t>
                </a:r>
              </a:p>
              <a:p>
                <a:r>
                  <a:rPr lang="en-US" sz="2200" dirty="0" smtClean="0"/>
                  <a:t>Creating a set of arrays to store these values as required for plotting, one for the x axis and a different array of y values for each wave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546" y="1600200"/>
                <a:ext cx="8584442" cy="4193547"/>
              </a:xfrm>
              <a:blipFill rotWithShape="0">
                <a:blip r:embed="rId2"/>
                <a:stretch>
                  <a:fillRect l="-852" t="-1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114800" y="297521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18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Bookkeeping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0186"/>
            <a:ext cx="8229600" cy="4483562"/>
          </a:xfrm>
        </p:spPr>
        <p:txBody>
          <a:bodyPr/>
          <a:lstStyle/>
          <a:p>
            <a:r>
              <a:rPr lang="en-US" sz="2200" dirty="0" smtClean="0"/>
              <a:t>Creating empty arrays to store these sets of points</a:t>
            </a:r>
          </a:p>
          <a:p>
            <a:pPr marL="0" indent="0">
              <a:buNone/>
            </a:pPr>
            <a:endParaRPr lang="en-US" sz="2200" dirty="0" smtClean="0"/>
          </a:p>
          <a:p>
            <a:r>
              <a:rPr lang="en-US" sz="2200" dirty="0" smtClean="0"/>
              <a:t>Creating a figure with three subplots and changing the size of the window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 smtClean="0"/>
              <a:t>Associating the color and right data sets with each plot, also setting the title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68" y="1764882"/>
            <a:ext cx="5766748" cy="3945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38" y="2881342"/>
            <a:ext cx="7141894" cy="3423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237" y="3897134"/>
            <a:ext cx="5457526" cy="11450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087714"/>
            <a:ext cx="8494370" cy="88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6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Function</a:t>
            </a:r>
            <a:r>
              <a:rPr lang="en-US" dirty="0" smtClean="0"/>
              <a:t>: </a:t>
            </a:r>
            <a:r>
              <a:rPr lang="en-US" i="1" dirty="0" err="1" smtClean="0"/>
              <a:t>data_gen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6538"/>
                <a:ext cx="8229600" cy="4497210"/>
              </a:xfrm>
            </p:spPr>
            <p:txBody>
              <a:bodyPr/>
              <a:lstStyle/>
              <a:p>
                <a:r>
                  <a:rPr lang="en-US" sz="2200" dirty="0" smtClean="0"/>
                  <a:t>Short for data generation</a:t>
                </a:r>
              </a:p>
              <a:p>
                <a:r>
                  <a:rPr lang="en-US" sz="2200" dirty="0" smtClean="0"/>
                  <a:t>Starting at </a:t>
                </a:r>
                <a:r>
                  <a:rPr lang="en-US" sz="2200" i="1" dirty="0" smtClean="0"/>
                  <a:t>t = 0 </a:t>
                </a:r>
                <a:r>
                  <a:rPr lang="en-US" sz="2200" dirty="0" smtClean="0"/>
                  <a:t>and counter variable, </a:t>
                </a:r>
                <a:r>
                  <a:rPr lang="en-US" sz="2200" i="1" dirty="0" err="1" smtClean="0"/>
                  <a:t>ctr</a:t>
                </a:r>
                <a:r>
                  <a:rPr lang="en-US" sz="2200" i="1" dirty="0" smtClean="0"/>
                  <a:t> = 0</a:t>
                </a:r>
              </a:p>
              <a:p>
                <a:r>
                  <a:rPr lang="en-US" sz="2200" dirty="0" smtClean="0"/>
                  <a:t>Starting a </a:t>
                </a:r>
                <a:r>
                  <a:rPr lang="en-US" sz="2200" i="1" dirty="0" smtClean="0"/>
                  <a:t>‘for’ </a:t>
                </a:r>
                <a:r>
                  <a:rPr lang="en-US" sz="2200" dirty="0" smtClean="0"/>
                  <a:t>loop to carry out the previously specified math operations for each time step</a:t>
                </a:r>
              </a:p>
              <a:p>
                <a:endParaRPr lang="en-US" sz="2200" dirty="0" smtClean="0"/>
              </a:p>
              <a:p>
                <a:r>
                  <a:rPr lang="en-US" sz="2200" dirty="0" smtClean="0"/>
                  <a:t>Sample code for a decaying wave: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𝐴𝑠𝑖𝑛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𝑓𝑡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sz="2200" dirty="0" smtClean="0"/>
              </a:p>
              <a:p>
                <a:endParaRPr lang="en-US" sz="2200" dirty="0" smtClean="0"/>
              </a:p>
              <a:p>
                <a:r>
                  <a:rPr lang="en-US" sz="2200" dirty="0" smtClean="0"/>
                  <a:t>Incrementing the time variable with the step size i.e. t = t + step</a:t>
                </a:r>
              </a:p>
              <a:p>
                <a:endParaRPr lang="en-US" sz="2200" dirty="0" smtClean="0"/>
              </a:p>
              <a:p>
                <a:r>
                  <a:rPr lang="en-US" sz="2200" dirty="0" smtClean="0"/>
                  <a:t>Returning the values back to the calling function</a:t>
                </a:r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6538"/>
                <a:ext cx="8229600" cy="4497210"/>
              </a:xfrm>
              <a:blipFill rotWithShape="0">
                <a:blip r:embed="rId2"/>
                <a:stretch>
                  <a:fillRect l="-815" t="-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3" y="4537549"/>
            <a:ext cx="1364784" cy="2799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3166" y="5346124"/>
            <a:ext cx="2759837" cy="3533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7632" y="2865176"/>
            <a:ext cx="3597037" cy="3865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9288" y="3712055"/>
            <a:ext cx="6111697" cy="36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10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Updating and Animating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Update the arrays with the values of each iteration and set it to each line</a:t>
            </a:r>
          </a:p>
          <a:p>
            <a:endParaRPr lang="en-US" sz="2200" dirty="0"/>
          </a:p>
          <a:p>
            <a:endParaRPr lang="en-US" sz="2200" dirty="0" smtClean="0"/>
          </a:p>
          <a:p>
            <a:endParaRPr lang="en-US" sz="2200" dirty="0" smtClean="0"/>
          </a:p>
          <a:p>
            <a:r>
              <a:rPr lang="en-US" sz="2200" dirty="0" smtClean="0"/>
              <a:t>Animate the lines by calling </a:t>
            </a:r>
            <a:r>
              <a:rPr lang="en-US" sz="2200" dirty="0" err="1" smtClean="0"/>
              <a:t>FuncAnimation</a:t>
            </a:r>
            <a:r>
              <a:rPr lang="en-US" sz="2200" dirty="0" smtClean="0"/>
              <a:t> with the appropriate function (</a:t>
            </a:r>
            <a:r>
              <a:rPr lang="en-US" sz="2200" i="1" dirty="0" err="1" smtClean="0"/>
              <a:t>data_gen</a:t>
            </a:r>
            <a:r>
              <a:rPr lang="en-US" sz="2200" dirty="0" smtClean="0"/>
              <a:t>)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i="1" dirty="0" smtClean="0"/>
              <a:t/>
            </a:r>
            <a:br>
              <a:rPr lang="en-US" sz="2200" i="1" dirty="0" smtClean="0"/>
            </a:br>
            <a:r>
              <a:rPr lang="en-US" sz="2200" i="1" dirty="0" smtClean="0"/>
              <a:t>	(increase interval if you want to make it slower)</a:t>
            </a:r>
            <a:endParaRPr lang="en-US" sz="2200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49" y="2365514"/>
            <a:ext cx="2219795" cy="11669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660" y="2547459"/>
            <a:ext cx="3767211" cy="8030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426" y="4540397"/>
            <a:ext cx="8557147" cy="33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21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Code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Open the file: SHM.py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The green comments and the following slides give instructions on how to complete the code to create the animated waves. 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177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Code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701" y="1251383"/>
            <a:ext cx="8888597" cy="426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145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Code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872" b="1065"/>
          <a:stretch/>
        </p:blipFill>
        <p:spPr>
          <a:xfrm>
            <a:off x="0" y="1417638"/>
            <a:ext cx="9044765" cy="426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764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0674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Code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469" y="846138"/>
            <a:ext cx="8468494" cy="517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76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Code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33056"/>
            <a:ext cx="9071261" cy="376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884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85422"/>
          </a:xfrm>
        </p:spPr>
        <p:txBody>
          <a:bodyPr/>
          <a:lstStyle/>
          <a:p>
            <a:r>
              <a:rPr lang="en-US" sz="4200" dirty="0" smtClean="0"/>
              <a:t>Things to try out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4788" cy="4193547"/>
          </a:xfrm>
        </p:spPr>
        <p:txBody>
          <a:bodyPr/>
          <a:lstStyle/>
          <a:p>
            <a:r>
              <a:rPr lang="en-US" sz="2200" dirty="0" smtClean="0"/>
              <a:t>Change the function to print out a different wave instead:</a:t>
            </a:r>
          </a:p>
          <a:p>
            <a:pPr lvl="1"/>
            <a:r>
              <a:rPr lang="en-US" sz="2200" dirty="0" smtClean="0"/>
              <a:t>With a frequency of 4 Hz and an amplitude of 2.5</a:t>
            </a:r>
          </a:p>
          <a:p>
            <a:pPr lvl="1"/>
            <a:r>
              <a:rPr lang="en-US" sz="2200" dirty="0" smtClean="0"/>
              <a:t>With an initial phase shift of 180</a:t>
            </a:r>
            <a:r>
              <a:rPr lang="en-US" sz="2200" baseline="30000" dirty="0" smtClean="0"/>
              <a:t>o</a:t>
            </a:r>
          </a:p>
          <a:p>
            <a:pPr lvl="1"/>
            <a:r>
              <a:rPr lang="en-US" sz="2200" dirty="0" smtClean="0"/>
              <a:t>Extend the X axis to watch the wave fully decay </a:t>
            </a:r>
          </a:p>
          <a:p>
            <a:pPr marL="457200" lvl="1" indent="0">
              <a:buNone/>
            </a:pPr>
            <a:r>
              <a:rPr lang="en-US" sz="2200" i="1" dirty="0" smtClean="0"/>
              <a:t>(P.S. Make sure to change the title to match the corresponding wave)</a:t>
            </a:r>
          </a:p>
          <a:p>
            <a:r>
              <a:rPr lang="en-US" sz="2200" dirty="0" smtClean="0"/>
              <a:t>Use the script to try out other physical animations in 2D using different math formulae with appropriate changes </a:t>
            </a:r>
          </a:p>
          <a:p>
            <a:pPr marL="0" indent="0" algn="ctr">
              <a:buNone/>
            </a:pPr>
            <a:r>
              <a:rPr lang="en-US" sz="2600" b="1" dirty="0" smtClean="0"/>
              <a:t>Best of luck!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06192553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wyo_powerpoint_template1 [Read-Only]" id="{4B645B48-1D4D-4A7E-A227-940AAC3A88AC}" vid="{38082606-69BA-4892-877D-46BB1B9206B6}"/>
    </a:ext>
  </a:extLst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wyo_powerpoint_template1 [Read-Only]" id="{4B645B48-1D4D-4A7E-A227-940AAC3A88AC}" vid="{15DB65A0-2F0D-4341-9F81-3E8330120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2569</TotalTime>
  <Words>700</Words>
  <Application>Microsoft Office PowerPoint</Application>
  <PresentationFormat>On-screen Show (4:3)</PresentationFormat>
  <Paragraphs>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Cambria Math</vt:lpstr>
      <vt:lpstr>Lucida Console</vt:lpstr>
      <vt:lpstr>Wingdings</vt:lpstr>
      <vt:lpstr>Custom Design</vt:lpstr>
      <vt:lpstr>1_Custom Design</vt:lpstr>
      <vt:lpstr>2_Custom Design</vt:lpstr>
      <vt:lpstr>3_Custom Design</vt:lpstr>
      <vt:lpstr>Animation: Simple Harmonic Motion (SHM) </vt:lpstr>
      <vt:lpstr>Goals</vt:lpstr>
      <vt:lpstr>Applicable Education Standards</vt:lpstr>
      <vt:lpstr>Abstract</vt:lpstr>
      <vt:lpstr>What is SHM?</vt:lpstr>
      <vt:lpstr>Converting Science to Code</vt:lpstr>
      <vt:lpstr>Math Model of SHM</vt:lpstr>
      <vt:lpstr>Time marching (Discretization)</vt:lpstr>
      <vt:lpstr>Algorithm/Process</vt:lpstr>
      <vt:lpstr>Bookkeeping</vt:lpstr>
      <vt:lpstr>Function: data_gen</vt:lpstr>
      <vt:lpstr>Updating and Animating</vt:lpstr>
      <vt:lpstr>Code</vt:lpstr>
      <vt:lpstr>Code</vt:lpstr>
      <vt:lpstr>Code</vt:lpstr>
      <vt:lpstr>Code</vt:lpstr>
      <vt:lpstr>Code</vt:lpstr>
      <vt:lpstr>Things to try 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Institutional Marketing</dc:creator>
  <cp:lastModifiedBy>Suzanne Michelle Piver</cp:lastModifiedBy>
  <cp:revision>45</cp:revision>
  <dcterms:created xsi:type="dcterms:W3CDTF">2014-09-17T21:08:03Z</dcterms:created>
  <dcterms:modified xsi:type="dcterms:W3CDTF">2018-06-27T20:43:23Z</dcterms:modified>
</cp:coreProperties>
</file>